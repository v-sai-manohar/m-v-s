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7" r:id="rId2"/>
    <p:sldId id="270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>
      <p:cViewPr varScale="1">
        <p:scale>
          <a:sx n="81" d="100"/>
          <a:sy n="81" d="100"/>
        </p:scale>
        <p:origin x="152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33FDAA-94EE-4247-8395-C131949C245C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87BEC-BF6B-4ACA-9514-4B8DBB0CB1E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687BEC-BF6B-4ACA-9514-4B8DBB0CB1EE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687BEC-BF6B-4ACA-9514-4B8DBB0CB1E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687BEC-BF6B-4ACA-9514-4B8DBB0CB1E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0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69ABB-C62F-40B7-B805-F9CF9527C4D1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DA4F8-DDCC-4585-809E-5B7470D15856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2EC58-0978-4AEF-BE56-A3A9A0E10D1E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5B467-6015-4A71-9B69-3EEC45499E53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33158-C9AD-49B0-89B1-8608A158B858}" type="datetime1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259ED-19EA-4D9A-9386-11E12741E22B}" type="datetime1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A2614-314D-4DFC-8B9A-E95984F1C2BB}" type="datetime1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FEB6-4CCE-4C1F-B887-1AC056D70969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B28C0-8312-4A08-A0F9-FB923B6C9B75}" type="datetime1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8CE36-9857-4656-980E-A4050B6108B5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8F659-09F2-414F-98DF-EB5EFFB87DA6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D84B3-2EE9-4291-9731-05D125259802}" type="datetime1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QnX Everywhere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997358"/>
            <a:ext cx="8229600" cy="808038"/>
          </a:xfrm>
        </p:spPr>
        <p:txBody>
          <a:bodyPr>
            <a:normAutofit/>
          </a:bodyPr>
          <a:lstStyle/>
          <a:p>
            <a:r>
              <a:rPr lang="en-US" b="1" dirty="0"/>
              <a:t>Edge Analytics on Sensor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93155"/>
            <a:ext cx="8229600" cy="45259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Sensor Data Locally Before Transmission – Powered by QNX Neutrino RTOS – Q-eHACK 2026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V S | V. Sai Manohar, M. Shashank, V. Vishwa Prasad  (3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ECE)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#34 | QNX Everywhere Initiative | March 2026 | Hyderabad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5362" name="AutoShape 2" descr="BVRIT Logo &amp; Brand Assets (SVG, PNG and vector) - Brandfe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7" name="Picture 7" descr="Embedded OS, Support, and Services | BlackBerry QNX | Member 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sp>
        <p:nvSpPr>
          <p:cNvPr id="15369" name="AutoShape 9" descr="Pi Square Technologies | Linked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V S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Analytics on Sensor Data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ID: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V Raju Institute of Technology</a:t>
            </a:r>
          </a:p>
          <a:p>
            <a:pPr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Details: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Sai Manohar| M. Shashank| V. Vishwa Prasad | 3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year ECE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5362" name="AutoShape 2" descr="BVRIT Logo &amp; Brand Assets (SVG, PNG and vector) - Brandfetch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7" name="Picture 7" descr="Embedded OS, Support, and Services | BlackBerry QNX | Member 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sp>
        <p:nvSpPr>
          <p:cNvPr id="15369" name="AutoShape 9" descr="Pi Square Technologies | LinkedI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42107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Presentation Overview</a:t>
            </a:r>
          </a:p>
          <a:p>
            <a:pPr lvl="1"/>
            <a:r>
              <a:rPr lang="en-US" dirty="0"/>
              <a:t>Problem Statement &amp; Clarity</a:t>
            </a:r>
          </a:p>
          <a:p>
            <a:pPr lvl="1"/>
            <a:r>
              <a:rPr lang="en-US" dirty="0"/>
              <a:t>Proposed Solution – Edge Analytics</a:t>
            </a:r>
          </a:p>
          <a:p>
            <a:pPr lvl="1"/>
            <a:r>
              <a:rPr lang="en-US" dirty="0"/>
              <a:t>Technical Deep Dive &amp; QNX RTOS Integration</a:t>
            </a:r>
          </a:p>
          <a:p>
            <a:pPr lvl="1"/>
            <a:r>
              <a:rPr lang="en-US" dirty="0"/>
              <a:t>Innovation &amp; Originality</a:t>
            </a:r>
          </a:p>
          <a:p>
            <a:pPr lvl="1"/>
            <a:r>
              <a:rPr lang="en-US" dirty="0"/>
              <a:t>Industry Impact &amp; Relevance</a:t>
            </a:r>
          </a:p>
          <a:p>
            <a:pPr lvl="1"/>
            <a:r>
              <a:rPr lang="en-US" dirty="0"/>
              <a:t>Live Demo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7AA5EE8-B59E-926E-95FA-A256A35EF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B3E612A1-65E0-34BB-0EFF-74F8B8FCE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9B2E753E-C5BD-44DC-9596-C6AFF78DC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877" y="44306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Problem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edge devices—such as those using DHT22 and MPU6050—continuously generate high-frequency sensor data. Without local processing, 100% of raw data is streamed to the cloud,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causing excessive bandwidth usage, high latency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missed real-time anomalies that demand immediate local action.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Causes: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local filtering or analytics — raw sensor readings sent directly to cloud, wasting bandwidth and increasing round-trip latency</a:t>
            </a:r>
          </a:p>
          <a:p>
            <a:pPr lvl="1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process isolation: without RTOS priority scheduling, a lower-priority task can preempt the sensor read, corrupting microsecond-level DHT22 single-wire timing or causing MPU6050 I2C burst tears.</a:t>
            </a:r>
          </a:p>
          <a:p>
            <a:pPr lvl="1"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General-purpose OS schedulers lack Worst-Case Execution Time (WCET) guarantees — Linux sampling jitter of 15–40 ms makes it impossible to meet DHT22 protocol timing and maintain deterministic 100 ms MPU6050 read cycles.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86E55E8-3ECF-A3E8-B62D-AA5097372A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18ED5C45-6A2B-F960-B10A-34C3C8F79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BD2E335D-6CBE-B46E-0857-D39D5CBD63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20687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Why This Matters &amp; Current Gaps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Impacts of the Problem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embedded and edge systems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automotive safety systems, industrial automation, medical devices, and smart infrastructure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predictable and reliable real-time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Many current operating systems fail to meet strict safety and timing requirements, which can lead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instability, safety hazards, and regulatory violations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1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Comparison: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+ Python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Avg sampling jitter 15–40ms | No WCET guarantee | Single-threaded analytics blocks I/O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FreeRTOS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Low latency, but no POSIX, no HTTP server capability, no rolling-window stats library — requires custom everything</a:t>
            </a:r>
          </a:p>
          <a:p>
            <a:pPr lvl="1"/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QNX Neutrino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Sub-1ms guaranteed timer accuracy | SCHED_FIFO task isolation | POSIX + MsgSend IPC | HTTP dashboard out-of-box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FEA4621-116D-9F7E-BA23-BC1165435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34F25C62-979A-95C7-7B51-F3B169AE6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0E4F4FFF-9368-E374-CC7E-3442B6A02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879" y="481553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Our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Introducing EdgeSense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QNX Neutrino RTOS-powered 3-stage real-time pipeline that performs edge analytics on DHT22 (temperature/humidity) and MPU6050 sensor data, with deterministic sampling, gravity-compensated motion detection, and a live HTTP dashboard – deployed on Raspberry Pi 4 running QNX SDP 8.0.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Features:</a:t>
            </a:r>
          </a:p>
          <a:p>
            <a:pPr lvl="1"/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3-stage Process Pipeline (QNX RTOS):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Rolling-window analytics: 2-second window (ANALYTICS_WINDOW_MS=2000) — 1 DHT22 sample at 0.5 Hz for min/max/avg temperature and humidity; ~20 MPU6050 samples at 10 Hz for gravity-compensated accel delta and gyro magnitude</a:t>
            </a:r>
          </a:p>
          <a:p>
            <a:pPr lvl="1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split-panel HTTP dashboard: DHT22 charts on left, per-axis MPU6050 values on right – polls every 500ms, triggered axes highlight amber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E4ACE9B-0728-0455-98DC-52DD872F0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1E9D2190-498A-2A60-EA35-1901C790EA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B57CBE65-F7D2-017E-30C4-2F5E582BD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31BAC0-7D4E-1A37-A360-A21AD86FB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85" b="7270"/>
          <a:stretch>
            <a:fillRect/>
          </a:stretch>
        </p:blipFill>
        <p:spPr>
          <a:xfrm>
            <a:off x="1195387" y="3406775"/>
            <a:ext cx="67056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52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System Architecture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387" y="1364457"/>
            <a:ext cx="8229600" cy="4525963"/>
          </a:xfrm>
        </p:spPr>
        <p:txBody>
          <a:bodyPr>
            <a:normAutofit/>
          </a:bodyPr>
          <a:lstStyle/>
          <a:p>
            <a:r>
              <a:rPr lang="en-US" b="1" dirty="0"/>
              <a:t>Overall Architecture – Flow Diagram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9804415E-332E-BBB2-8804-340E658989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3555566B-9644-F8A7-9078-477408D8A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F7A77129-B560-28ED-4F05-0911E7359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A04CE15-59B1-4A4B-0A17-A7FEC3990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3" t="16423" r="2912" b="6204"/>
          <a:stretch>
            <a:fillRect/>
          </a:stretch>
        </p:blipFill>
        <p:spPr bwMode="auto">
          <a:xfrm>
            <a:off x="685800" y="2084785"/>
            <a:ext cx="7848600" cy="4038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1733" y="5715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/>
              <a:t>Key QNX Features Utilized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08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Leveraging QNX RTOS Capabilities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 Inter-Process Communication (IPC)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 IPC allows different processes (sensor reading, data analysis, and networking) to communicate and exchange sensor data efficiently in real time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SCHED_RR Priority Scheduling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SCHED_RR (Round-Robin) is used via pthread_setschedparam() for all five threads. Fixed priorities enforce strict preemption order: Sensor (P22) &gt; Analytics (P20) &gt; Transmission (P15) &gt; HTTP Server (P10), guaranteeing sensor reads are never preempted by lower-priority tasks.</a:t>
            </a:r>
          </a:p>
          <a:p>
            <a:pPr marL="400050" algn="just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Lock-Free SPSC Ring Buffers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threads push samples into dht22_spsc_t and mpu6050_spsc_t ring buffers using C11 _Atomic indices — no mutex, no blocking. Cache-line padding (60 bytes) between head and tail prevents false sharing across CPU cores.</a:t>
            </a:r>
          </a:p>
          <a:p>
            <a:pPr marL="40005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POSIX Absolute-Deadline Timers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threads use clock_nanosleep(CLOCK_MONOTONIC, TIMER_ABSTIME) to sleep to a fixed wall-clock deadline. Each wakes at an absolute point in time regardless of execution duration — guaranteeing zero drift. DHT22 fires every 2000 ms; MPU6050 every 100 ms; Analytics every 2000 ms with a 10 ms spin-poll jitter absorber.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>
              <a:buFont typeface="Wingdings" panose="05000000000000000000" pitchFamily="2" charset="2"/>
              <a:buChar char="Ø"/>
            </a:pPr>
            <a:endParaRPr lang="en-US" sz="1600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180FC55-18D4-BDF2-7EBA-DF980D311F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D5B96BD2-1058-98A8-FF53-2720E5BD81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C7F99B91-33ED-5FC1-15C3-401CA9255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6481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Implementation Highlights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76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Scheduling:</a:t>
            </a:r>
            <a:b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 use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SCHED_RR priority scheduling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deterministic execution.</a:t>
            </a:r>
          </a:p>
          <a:p>
            <a:pPr marL="0" indent="0">
              <a:buNone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Priorities:</a:t>
            </a:r>
            <a:endParaRPr lang="en-IN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(DHT22 + MPU6050) (Priority 22)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Sensor data acquisition </a:t>
            </a:r>
          </a:p>
          <a:p>
            <a:pPr marL="0" indent="0">
              <a:buNone/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(Priority 20)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data analysis (PRIORITY_HIGH)</a:t>
            </a:r>
          </a:p>
          <a:p>
            <a:pPr marL="0" indent="0">
              <a:buNone/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(Priority 15)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logging &amp; console report (PRIORITY_MEDIUM)</a:t>
            </a:r>
          </a:p>
          <a:p>
            <a:pPr marL="0" indent="0">
              <a:buNone/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HTTP ServerTask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(Priority 10)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Live HTTP dashboard on port 8080 (PRIORITY_LOW)</a:t>
            </a:r>
          </a:p>
          <a:p>
            <a:pPr marL="0" indent="0">
              <a:buNone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QNX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passing IPC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through channels:</a:t>
            </a:r>
          </a:p>
          <a:p>
            <a:pPr marL="0" indent="0">
              <a:buNone/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g_analytics_chid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single QNX channel (ChannelCreate) for Analytics → Transmission IPC</a:t>
            </a:r>
          </a:p>
          <a:p>
            <a:pPr marL="0" indent="0">
              <a:buNone/>
            </a:pP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Sensor → Analytics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via lock-free SPSC rings (dht22_spsc_t, mpu6050_spsc_t) — no mutex needed</a:t>
            </a:r>
          </a:p>
          <a:p>
            <a:pPr marL="0" indent="0">
              <a:buNone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Periodic Sampling:</a:t>
            </a:r>
            <a:b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clock_nanosleep ABSTIME timers: DHT22 every 2000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MPU6050 every 100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absolute deadlines ensure zero drift across all sampling cycles.</a:t>
            </a:r>
          </a:p>
          <a:p>
            <a:pPr marL="0" indent="0">
              <a:buNone/>
            </a:pPr>
            <a: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Pipeline:</a:t>
            </a:r>
            <a:br>
              <a:rPr lang="en-IN" sz="165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POSIX Timer →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SensorTask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AnalyticsTask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16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TransmissionTask</a:t>
            </a:r>
            <a:r>
              <a:rPr lang="en-IN" sz="16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Console Report + HTTP Dashboard</a:t>
            </a:r>
            <a:endParaRPr lang="en-IN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5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QnX</a:t>
            </a:r>
            <a:r>
              <a:rPr lang="en-US" dirty="0"/>
              <a:t>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05EE5951-235C-9AEF-187E-20AAFC1A3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4DC31B36-989B-845A-944A-8D1132EF2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142F167D-3CE6-67CC-F77A-7E7A5F606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Technical Challenges &amp; QNX Solutions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Challenge → QNX Solution → Measured Outcome</a:t>
            </a:r>
          </a:p>
          <a:p>
            <a:pPr lvl="1"/>
            <a:r>
              <a:rPr lang="en-US" b="1" dirty="0"/>
              <a:t>Motion double-application bug </a:t>
            </a:r>
            <a:r>
              <a:rPr lang="en-US" dirty="0"/>
              <a:t>→ Separated event injection (state-set only) from application (decay loop handles every sample) → Motion events now 1× correct magnitude; all 3 per-axis flags trigger accurately</a:t>
            </a:r>
          </a:p>
          <a:p>
            <a:pPr lvl="1"/>
            <a:r>
              <a:rPr lang="en-US" b="1" dirty="0"/>
              <a:t>int16 precision loss in simulation </a:t>
            </a:r>
            <a:r>
              <a:rPr lang="en-US" dirty="0"/>
              <a:t>→ Removed float→int16→float conversion; work in float (physical units) throughout → Accel precision improved from 0.29980g to exact 0.30000g; gravity compensation accurate to 0.00020g</a:t>
            </a:r>
          </a:p>
          <a:p>
            <a:pPr lvl="1"/>
            <a:r>
              <a:rPr lang="en-US" b="1" dirty="0"/>
              <a:t>Detection thresholds too high / random chart drift </a:t>
            </a:r>
            <a:r>
              <a:rPr lang="en-US" dirty="0"/>
              <a:t>→ Set thresholds at 15× noise floor per datasheet (ACCEL_MOTION_DELTA=0.05g, GYRO_VIB_THRESHOLD=5.0°/s); noise &lt; 0.003g / 0.005°/s → Charts flat at rest; events trigger cleanly</a:t>
            </a:r>
          </a:p>
          <a:p>
            <a:pPr lvl="1"/>
            <a:r>
              <a:rPr lang="en-US" b="1" dirty="0"/>
              <a:t>DHT22 random walk causing constant chart drift </a:t>
            </a:r>
            <a:r>
              <a:rPr lang="en-US" dirty="0"/>
              <a:t>→ Fixed base to constant 26.5°C/52.0%RH; reduced noise &lt;0.01°C (rounds to same digit 99.99% of samples) → Temperature and humidity display locked solid between spike events</a:t>
            </a:r>
          </a:p>
          <a:p>
            <a:r>
              <a:rPr lang="en-US" b="1" dirty="0"/>
              <a:t>Key Metrics: </a:t>
            </a:r>
            <a:r>
              <a:rPr lang="en-US" dirty="0"/>
              <a:t>Sampling jitter &lt;1ms | Analytics window = 3s (6 samples) | Dashboard poll 500ms | CSV log rate 2 Hz | Anomaly detection latency &lt;500ms end-to-end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0985499-FB0D-5124-691D-A3EC1000C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226567AB-1C5E-C712-2976-3FFFE863BC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5C49D803-0C0C-F567-85DA-41269A872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656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Innovation &amp; Originality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What Makes this Unique</a:t>
            </a:r>
          </a:p>
          <a:p>
            <a:pPr lvl="1"/>
            <a:r>
              <a:rPr lang="en-US" dirty="0"/>
              <a:t>Physics-accurate sensor simulation with datasheet noise model (MPU6050: 400µg/√Hz accel, 0.01°/s/√Hz gyro). No random walk — at rest all six channels display constant stable values; only injected events cause visible chart movement.</a:t>
            </a:r>
          </a:p>
          <a:p>
            <a:pPr lvl="1"/>
            <a:r>
              <a:rPr lang="en-US" dirty="0"/>
              <a:t>Gravity-compensated motion detection: accel_total_delta = sqrt(ax² + ay² + (az–1g)²) removes Earth gravity from Z so resting delta ≈ 0.00035g, not 1.0g — making the 0.05g threshold both meaningful and precise.</a:t>
            </a:r>
          </a:p>
          <a:p>
            <a:pPr lvl="1"/>
            <a:r>
              <a:rPr lang="en-US" dirty="0"/>
              <a:t>Linux-based pipelines have sampling jitter 15–40ms and no WCET. EdgeSense achieves deterministic 10 Hz MPU6050 sampling and 0.5 Hz analytics windows on QNX SCHED_RR with sub-1ms jitter — edge analytics complete before the transmission window opens.</a:t>
            </a:r>
          </a:p>
          <a:p>
            <a:pPr lvl="1"/>
            <a:r>
              <a:rPr lang="en-US" dirty="0"/>
              <a:t>Sensor-agnostic design — swap DHT22 or MPU6050 for any I2C/SPI sensor by updating only </a:t>
            </a:r>
            <a:r>
              <a:rPr lang="en-US" dirty="0" err="1"/>
              <a:t>sensor_task.c</a:t>
            </a:r>
            <a:r>
              <a:rPr lang="en-US" dirty="0"/>
              <a:t>. Analytics and Transmission stages require zero modification; new sensor types plug straight into the same IPC pipeline.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9D1CBA3-5F92-A464-C18C-000810ED26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1EF81C8C-E894-3A52-CF71-B0F8CEE49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CE72C6BF-6EE0-49BC-1F4F-23A933F70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Live Demonstration</a:t>
            </a:r>
            <a:br>
              <a:rPr lang="en-US" b="1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11/03/2026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525B144-5D8C-852B-21C1-51C19F483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3C769DC2-60B5-DA38-E82A-09F0D1087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18093733-6FFA-0B90-6415-FB8D2EA5F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5539242-F86F-D1C5-D13B-661020CBE7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584123" y="-31423"/>
            <a:ext cx="4051954" cy="7467599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763571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Industry Impact &amp; Relevance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Real-World Impact </a:t>
            </a:r>
          </a:p>
          <a:p>
            <a:pPr lvl="1"/>
            <a:r>
              <a:rPr lang="en-US" dirty="0"/>
              <a:t>Smart Agriculture &amp; Environmental Monitoring (Primary): Edge-processed DHT22 data enables autonomous irrigation triggers and cold-chain anomaly alerts without cloud connectivity. Global IoT sensors market = $89B by 2027.</a:t>
            </a:r>
          </a:p>
          <a:p>
            <a:pPr lvl="1"/>
            <a:r>
              <a:rPr lang="en-US" dirty="0"/>
              <a:t>Predictive Maintenance: MPU6050 vibration analytics on industrial motors and conveyor belts detect bearing wear before failure — reducing unplanned downtime cost estimated at $50B/year (Deloitte 2024).</a:t>
            </a:r>
          </a:p>
          <a:p>
            <a:pPr lvl="1"/>
            <a:r>
              <a:rPr lang="en-US" dirty="0"/>
              <a:t>Wearable Health &amp; Medical Devices: Deterministic motion + temperature fusion (IMU + body temp) enables real-time fall detection and fever alerts in edge wearables — critical where cloud latency is unacceptable (IEC 62304 aligned).</a:t>
            </a:r>
          </a:p>
          <a:p>
            <a:pPr lvl="1"/>
            <a:r>
              <a:rPr lang="en-US" dirty="0"/>
              <a:t>QNX Platform Alignment: QNX Neutrino RTOS powers 215M+ connected devices globally. This architecture is directly portable to BlackBerry QNX SDP 8.0 on Raspberry Pi 4 with real DHT22 + MPU6050 hardware via /dev/i2c0.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8BFA0375-E289-BE78-25A4-402DA8C00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1B3C32D4-BC7E-2E65-7A50-A8BE19E4B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60E8E135-6910-6326-F974-61E2FFB54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900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Thank You!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QNX-Powered Real-Time Edge Analytics on Sensor Data</a:t>
            </a:r>
          </a:p>
          <a:p>
            <a:r>
              <a:rPr lang="en-US" dirty="0"/>
              <a:t>A deterministic 3-stage pipeline on QNX Neutrino RTOS: DHT22 + MPU6050 sensors, rolling-window analytics, gravity-compensated motion detection, and a live HTTP dashboard — flat charts at rest, clean event-driven spikes.</a:t>
            </a:r>
          </a:p>
          <a:p>
            <a:r>
              <a:rPr lang="en-US" dirty="0"/>
              <a:t>V. Sai Manohar| M. Shashank| V. Vishwa Prasad | 3</a:t>
            </a:r>
            <a:r>
              <a:rPr lang="en-US" baseline="30000" dirty="0"/>
              <a:t>rd</a:t>
            </a:r>
            <a:r>
              <a:rPr lang="en-US" dirty="0"/>
              <a:t> year ECE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13/03/2026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QnX Everywhere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2B4CB0F8-EEAE-2E61-5747-E1952A9C3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0"/>
            <a:ext cx="21431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7" descr="Embedded OS, Support, and Services | BlackBerry QNX | Member ...">
            <a:extLst>
              <a:ext uri="{FF2B5EF4-FFF2-40B4-BE49-F238E27FC236}">
                <a16:creationId xmlns:a16="http://schemas.microsoft.com/office/drawing/2014/main" id="{0C5C4E4A-6709-9658-8691-E0C828FFC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2800" y="0"/>
            <a:ext cx="2390775" cy="609600"/>
          </a:xfrm>
          <a:prstGeom prst="rect">
            <a:avLst/>
          </a:prstGeom>
          <a:noFill/>
        </p:spPr>
      </p:pic>
      <p:pic>
        <p:nvPicPr>
          <p:cNvPr id="9" name="Picture 10">
            <a:extLst>
              <a:ext uri="{FF2B5EF4-FFF2-40B4-BE49-F238E27FC236}">
                <a16:creationId xmlns:a16="http://schemas.microsoft.com/office/drawing/2014/main" id="{2E42C0BC-DC33-DD4F-D3E5-1B676BBFF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39000" y="0"/>
            <a:ext cx="14859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</TotalTime>
  <Words>1629</Words>
  <Application>Microsoft Office PowerPoint</Application>
  <PresentationFormat>On-screen Show (4:3)</PresentationFormat>
  <Paragraphs>137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Times New Roman</vt:lpstr>
      <vt:lpstr>Wingdings</vt:lpstr>
      <vt:lpstr>Office Theme</vt:lpstr>
      <vt:lpstr>Edge Analytics on Sensor Data</vt:lpstr>
      <vt:lpstr>PowerPoint Presentation</vt:lpstr>
      <vt:lpstr>Agenda</vt:lpstr>
      <vt:lpstr>Problem Statement</vt:lpstr>
      <vt:lpstr>Why This Matters &amp; Current Gaps</vt:lpstr>
      <vt:lpstr>Our Solution</vt:lpstr>
      <vt:lpstr>System Architecture</vt:lpstr>
      <vt:lpstr>Key QNX Features Utilized</vt:lpstr>
      <vt:lpstr>Implementation Highlights </vt:lpstr>
      <vt:lpstr>Technical Challenges &amp; QNX Solutions </vt:lpstr>
      <vt:lpstr>Innovation &amp; Originality </vt:lpstr>
      <vt:lpstr>Live Demonstration </vt:lpstr>
      <vt:lpstr>Industry Impact &amp; Relevance </vt:lpstr>
      <vt:lpstr>Thank You!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1: Title Slide</dc:title>
  <dc:creator>admin</dc:creator>
  <cp:lastModifiedBy>sai manohar vaidadi</cp:lastModifiedBy>
  <cp:revision>17</cp:revision>
  <dcterms:created xsi:type="dcterms:W3CDTF">2006-08-16T00:00:00Z</dcterms:created>
  <dcterms:modified xsi:type="dcterms:W3CDTF">2026-04-18T02:50:24Z</dcterms:modified>
</cp:coreProperties>
</file>